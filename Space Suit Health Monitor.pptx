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9" r:id="rId4"/>
    <p:sldId id="274" r:id="rId5"/>
    <p:sldId id="264" r:id="rId6"/>
    <p:sldId id="271" r:id="rId7"/>
    <p:sldId id="276" r:id="rId8"/>
    <p:sldId id="280" r:id="rId9"/>
    <p:sldId id="279" r:id="rId10"/>
    <p:sldId id="265" r:id="rId11"/>
    <p:sldId id="272" r:id="rId12"/>
    <p:sldId id="267" r:id="rId13"/>
    <p:sldId id="270" r:id="rId14"/>
    <p:sldId id="262"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C" initials="P" lastIdx="1" clrIdx="0">
    <p:extLst>
      <p:ext uri="{19B8F6BF-5375-455C-9EA6-DF929625EA0E}">
        <p15:presenceInfo xmlns="" xmlns:p15="http://schemas.microsoft.com/office/powerpoint/2012/main" userId="f1b8764f2315a9c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5FB5D8-F1BE-4585-9567-369340D95722}" v="10" dt="2025-10-28T00:27:31.9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362" autoAdjust="0"/>
    <p:restoredTop sz="94434" autoAdjust="0"/>
  </p:normalViewPr>
  <p:slideViewPr>
    <p:cSldViewPr snapToGrid="0">
      <p:cViewPr>
        <p:scale>
          <a:sx n="66" d="100"/>
          <a:sy n="66" d="100"/>
        </p:scale>
        <p:origin x="-616" y="-36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MATHI T" userId="11b786adde653a70" providerId="LiveId" clId="{39FEFDD4-A459-4121-B2AB-EBE8D81FC9EC}"/>
    <pc:docChg chg="custSel addSld delSld modSld sldOrd">
      <pc:chgData name="POOMATHI T" userId="11b786adde653a70" providerId="LiveId" clId="{39FEFDD4-A459-4121-B2AB-EBE8D81FC9EC}" dt="2025-10-28T00:34:02.356" v="418" actId="20577"/>
      <pc:docMkLst>
        <pc:docMk/>
      </pc:docMkLst>
      <pc:sldChg chg="modSp mod ord">
        <pc:chgData name="POOMATHI T" userId="11b786adde653a70" providerId="LiveId" clId="{39FEFDD4-A459-4121-B2AB-EBE8D81FC9EC}" dt="2025-10-17T10:13:58.407" v="309" actId="1076"/>
        <pc:sldMkLst>
          <pc:docMk/>
          <pc:sldMk cId="3964882671" sldId="256"/>
        </pc:sldMkLst>
        <pc:spChg chg="mod">
          <ac:chgData name="POOMATHI T" userId="11b786adde653a70" providerId="LiveId" clId="{39FEFDD4-A459-4121-B2AB-EBE8D81FC9EC}" dt="2025-10-03T14:04:14.828" v="202" actId="1076"/>
          <ac:spMkLst>
            <pc:docMk/>
            <pc:sldMk cId="3964882671" sldId="256"/>
            <ac:spMk id="2" creationId="{00000000-0000-0000-0000-000000000000}"/>
          </ac:spMkLst>
        </pc:spChg>
        <pc:spChg chg="mod">
          <ac:chgData name="POOMATHI T" userId="11b786adde653a70" providerId="LiveId" clId="{39FEFDD4-A459-4121-B2AB-EBE8D81FC9EC}" dt="2025-10-17T10:13:58.407" v="309" actId="1076"/>
          <ac:spMkLst>
            <pc:docMk/>
            <pc:sldMk cId="3964882671" sldId="256"/>
            <ac:spMk id="3" creationId="{00000000-0000-0000-0000-000000000000}"/>
          </ac:spMkLst>
        </pc:spChg>
        <pc:spChg chg="mod">
          <ac:chgData name="POOMATHI T" userId="11b786adde653a70" providerId="LiveId" clId="{39FEFDD4-A459-4121-B2AB-EBE8D81FC9EC}" dt="2025-10-17T10:13:16.007" v="299" actId="20577"/>
          <ac:spMkLst>
            <pc:docMk/>
            <pc:sldMk cId="3964882671" sldId="256"/>
            <ac:spMk id="12" creationId="{00000000-0000-0000-0000-000000000000}"/>
          </ac:spMkLst>
        </pc:spChg>
      </pc:sldChg>
      <pc:sldChg chg="modSp mod">
        <pc:chgData name="POOMATHI T" userId="11b786adde653a70" providerId="LiveId" clId="{39FEFDD4-A459-4121-B2AB-EBE8D81FC9EC}" dt="2025-10-28T00:27:37.531" v="403" actId="14100"/>
        <pc:sldMkLst>
          <pc:docMk/>
          <pc:sldMk cId="91412938" sldId="259"/>
        </pc:sldMkLst>
        <pc:spChg chg="mod">
          <ac:chgData name="POOMATHI T" userId="11b786adde653a70" providerId="LiveId" clId="{39FEFDD4-A459-4121-B2AB-EBE8D81FC9EC}" dt="2025-10-17T10:14:52.587" v="312" actId="1076"/>
          <ac:spMkLst>
            <pc:docMk/>
            <pc:sldMk cId="91412938" sldId="259"/>
            <ac:spMk id="2" creationId="{00000000-0000-0000-0000-000000000000}"/>
          </ac:spMkLst>
        </pc:spChg>
        <pc:spChg chg="mod">
          <ac:chgData name="POOMATHI T" userId="11b786adde653a70" providerId="LiveId" clId="{39FEFDD4-A459-4121-B2AB-EBE8D81FC9EC}" dt="2025-10-28T00:27:37.531" v="403" actId="14100"/>
          <ac:spMkLst>
            <pc:docMk/>
            <pc:sldMk cId="91412938" sldId="259"/>
            <ac:spMk id="3" creationId="{00000000-0000-0000-0000-000000000000}"/>
          </ac:spMkLst>
        </pc:spChg>
      </pc:sldChg>
      <pc:sldChg chg="modSp mod">
        <pc:chgData name="POOMATHI T" userId="11b786adde653a70" providerId="LiveId" clId="{39FEFDD4-A459-4121-B2AB-EBE8D81FC9EC}" dt="2025-10-28T00:34:02.356" v="418" actId="20577"/>
        <pc:sldMkLst>
          <pc:docMk/>
          <pc:sldMk cId="223834819" sldId="261"/>
        </pc:sldMkLst>
        <pc:spChg chg="mod">
          <ac:chgData name="POOMATHI T" userId="11b786adde653a70" providerId="LiveId" clId="{39FEFDD4-A459-4121-B2AB-EBE8D81FC9EC}" dt="2025-10-17T10:14:18.696" v="310" actId="1076"/>
          <ac:spMkLst>
            <pc:docMk/>
            <pc:sldMk cId="223834819" sldId="261"/>
            <ac:spMk id="2" creationId="{00000000-0000-0000-0000-000000000000}"/>
          </ac:spMkLst>
        </pc:spChg>
        <pc:spChg chg="mod">
          <ac:chgData name="POOMATHI T" userId="11b786adde653a70" providerId="LiveId" clId="{39FEFDD4-A459-4121-B2AB-EBE8D81FC9EC}" dt="2025-10-28T00:34:02.356" v="418" actId="20577"/>
          <ac:spMkLst>
            <pc:docMk/>
            <pc:sldMk cId="223834819" sldId="261"/>
            <ac:spMk id="5" creationId="{00000000-0000-0000-0000-000000000000}"/>
          </ac:spMkLst>
        </pc:spChg>
      </pc:sldChg>
      <pc:sldChg chg="modSp mod">
        <pc:chgData name="POOMATHI T" userId="11b786adde653a70" providerId="LiveId" clId="{39FEFDD4-A459-4121-B2AB-EBE8D81FC9EC}" dt="2025-10-03T06:01:13.087" v="169" actId="20577"/>
        <pc:sldMkLst>
          <pc:docMk/>
          <pc:sldMk cId="974361266" sldId="263"/>
        </pc:sldMkLst>
        <pc:spChg chg="mod">
          <ac:chgData name="POOMATHI T" userId="11b786adde653a70" providerId="LiveId" clId="{39FEFDD4-A459-4121-B2AB-EBE8D81FC9EC}" dt="2025-10-03T06:01:13.087" v="169" actId="20577"/>
          <ac:spMkLst>
            <pc:docMk/>
            <pc:sldMk cId="974361266" sldId="263"/>
            <ac:spMk id="3" creationId="{00000000-0000-0000-0000-000000000000}"/>
          </ac:spMkLst>
        </pc:spChg>
      </pc:sldChg>
      <pc:sldChg chg="addSp delSp modSp mod">
        <pc:chgData name="POOMATHI T" userId="11b786adde653a70" providerId="LiveId" clId="{39FEFDD4-A459-4121-B2AB-EBE8D81FC9EC}" dt="2025-10-03T03:34:07.828" v="66" actId="5793"/>
        <pc:sldMkLst>
          <pc:docMk/>
          <pc:sldMk cId="1280821570" sldId="265"/>
        </pc:sldMkLst>
        <pc:spChg chg="mod">
          <ac:chgData name="POOMATHI T" userId="11b786adde653a70" providerId="LiveId" clId="{39FEFDD4-A459-4121-B2AB-EBE8D81FC9EC}" dt="2025-10-03T03:34:07.828" v="66" actId="5793"/>
          <ac:spMkLst>
            <pc:docMk/>
            <pc:sldMk cId="1280821570" sldId="265"/>
            <ac:spMk id="3" creationId="{00000000-0000-0000-0000-000000000000}"/>
          </ac:spMkLst>
        </pc:spChg>
      </pc:sldChg>
      <pc:sldChg chg="ord">
        <pc:chgData name="POOMATHI T" userId="11b786adde653a70" providerId="LiveId" clId="{39FEFDD4-A459-4121-B2AB-EBE8D81FC9EC}" dt="2025-10-03T00:54:30.809" v="43"/>
        <pc:sldMkLst>
          <pc:docMk/>
          <pc:sldMk cId="304640708" sldId="267"/>
        </pc:sldMkLst>
      </pc:sldChg>
      <pc:sldChg chg="modSp mod">
        <pc:chgData name="POOMATHI T" userId="11b786adde653a70" providerId="LiveId" clId="{39FEFDD4-A459-4121-B2AB-EBE8D81FC9EC}" dt="2025-10-17T10:18:15.200" v="332" actId="1076"/>
        <pc:sldMkLst>
          <pc:docMk/>
          <pc:sldMk cId="158859833" sldId="269"/>
        </pc:sldMkLst>
        <pc:spChg chg="mod">
          <ac:chgData name="POOMATHI T" userId="11b786adde653a70" providerId="LiveId" clId="{39FEFDD4-A459-4121-B2AB-EBE8D81FC9EC}" dt="2025-10-17T10:18:15.200" v="332" actId="1076"/>
          <ac:spMkLst>
            <pc:docMk/>
            <pc:sldMk cId="158859833" sldId="269"/>
            <ac:spMk id="2" creationId="{00000000-0000-0000-0000-000000000000}"/>
          </ac:spMkLst>
        </pc:spChg>
        <pc:spChg chg="mod">
          <ac:chgData name="POOMATHI T" userId="11b786adde653a70" providerId="LiveId" clId="{39FEFDD4-A459-4121-B2AB-EBE8D81FC9EC}" dt="2025-10-17T10:18:09.368" v="331" actId="1076"/>
          <ac:spMkLst>
            <pc:docMk/>
            <pc:sldMk cId="158859833" sldId="269"/>
            <ac:spMk id="3" creationId="{00000000-0000-0000-0000-000000000000}"/>
          </ac:spMkLst>
        </pc:spChg>
      </pc:sldChg>
      <pc:sldChg chg="addSp delSp modSp new mod">
        <pc:chgData name="POOMATHI T" userId="11b786adde653a70" providerId="LiveId" clId="{39FEFDD4-A459-4121-B2AB-EBE8D81FC9EC}" dt="2025-10-27T15:36:56.770" v="373" actId="1076"/>
        <pc:sldMkLst>
          <pc:docMk/>
          <pc:sldMk cId="974135195" sldId="271"/>
        </pc:sldMkLst>
        <pc:spChg chg="add del mod">
          <ac:chgData name="POOMATHI T" userId="11b786adde653a70" providerId="LiveId" clId="{39FEFDD4-A459-4121-B2AB-EBE8D81FC9EC}" dt="2025-10-27T15:21:23.219" v="342"/>
          <ac:spMkLst>
            <pc:docMk/>
            <pc:sldMk cId="974135195" sldId="271"/>
            <ac:spMk id="5" creationId="{9F1B27D5-3E02-1513-AE70-DFABF12C62DA}"/>
          </ac:spMkLst>
        </pc:spChg>
        <pc:spChg chg="add del mod">
          <ac:chgData name="POOMATHI T" userId="11b786adde653a70" providerId="LiveId" clId="{39FEFDD4-A459-4121-B2AB-EBE8D81FC9EC}" dt="2025-10-27T15:22:53.096" v="346" actId="21"/>
          <ac:spMkLst>
            <pc:docMk/>
            <pc:sldMk cId="974135195" sldId="271"/>
            <ac:spMk id="6" creationId="{B7F5E98C-A56F-6E70-7C63-0409D06691F2}"/>
          </ac:spMkLst>
        </pc:spChg>
        <pc:spChg chg="add mod">
          <ac:chgData name="POOMATHI T" userId="11b786adde653a70" providerId="LiveId" clId="{39FEFDD4-A459-4121-B2AB-EBE8D81FC9EC}" dt="2025-10-03T00:53:17.965" v="36" actId="1076"/>
          <ac:spMkLst>
            <pc:docMk/>
            <pc:sldMk cId="974135195" sldId="271"/>
            <ac:spMk id="7" creationId="{9FFEC291-2287-3385-0822-0F0E82F9E602}"/>
          </ac:spMkLst>
        </pc:spChg>
        <pc:spChg chg="add del">
          <ac:chgData name="POOMATHI T" userId="11b786adde653a70" providerId="LiveId" clId="{39FEFDD4-A459-4121-B2AB-EBE8D81FC9EC}" dt="2025-10-27T15:23:41.593" v="349" actId="478"/>
          <ac:spMkLst>
            <pc:docMk/>
            <pc:sldMk cId="974135195" sldId="271"/>
            <ac:spMk id="8" creationId="{DEEC0F59-BE22-BBBC-7ABF-32A730316D79}"/>
          </ac:spMkLst>
        </pc:spChg>
        <pc:spChg chg="add del mod">
          <ac:chgData name="POOMATHI T" userId="11b786adde653a70" providerId="LiveId" clId="{39FEFDD4-A459-4121-B2AB-EBE8D81FC9EC}" dt="2025-10-27T15:31:19.721" v="357" actId="21"/>
          <ac:spMkLst>
            <pc:docMk/>
            <pc:sldMk cId="974135195" sldId="271"/>
            <ac:spMk id="9" creationId="{3F9C9FCD-526B-3580-C99F-CB915EE1BA20}"/>
          </ac:spMkLst>
        </pc:spChg>
        <pc:spChg chg="add mod">
          <ac:chgData name="POOMATHI T" userId="11b786adde653a70" providerId="LiveId" clId="{39FEFDD4-A459-4121-B2AB-EBE8D81FC9EC}" dt="2025-10-17T10:15:18.142" v="314" actId="1076"/>
          <ac:spMkLst>
            <pc:docMk/>
            <pc:sldMk cId="974135195" sldId="271"/>
            <ac:spMk id="11" creationId="{D92037A2-7B97-F277-5CF1-C1713DF7A8C4}"/>
          </ac:spMkLst>
        </pc:spChg>
        <pc:spChg chg="add mod">
          <ac:chgData name="POOMATHI T" userId="11b786adde653a70" providerId="LiveId" clId="{39FEFDD4-A459-4121-B2AB-EBE8D81FC9EC}" dt="2025-10-03T06:42:03.158" v="187" actId="2085"/>
          <ac:spMkLst>
            <pc:docMk/>
            <pc:sldMk cId="974135195" sldId="271"/>
            <ac:spMk id="12" creationId="{727A5786-5AAF-D271-53D3-CB487F5204A5}"/>
          </ac:spMkLst>
        </pc:spChg>
        <pc:spChg chg="add mod">
          <ac:chgData name="POOMATHI T" userId="11b786adde653a70" providerId="LiveId" clId="{39FEFDD4-A459-4121-B2AB-EBE8D81FC9EC}" dt="2025-10-03T06:42:23.624" v="190" actId="2085"/>
          <ac:spMkLst>
            <pc:docMk/>
            <pc:sldMk cId="974135195" sldId="271"/>
            <ac:spMk id="13" creationId="{BA712F7D-D3EE-C084-FF93-B9F6CC1A3592}"/>
          </ac:spMkLst>
        </pc:spChg>
        <pc:picChg chg="add del mod">
          <ac:chgData name="POOMATHI T" userId="11b786adde653a70" providerId="LiveId" clId="{39FEFDD4-A459-4121-B2AB-EBE8D81FC9EC}" dt="2025-10-27T15:20:06.438" v="333" actId="478"/>
          <ac:picMkLst>
            <pc:docMk/>
            <pc:sldMk cId="974135195" sldId="271"/>
            <ac:picMk id="3" creationId="{8596C27A-C076-B2DF-3680-4793E11A7F12}"/>
          </ac:picMkLst>
        </pc:picChg>
        <pc:picChg chg="add del mod">
          <ac:chgData name="POOMATHI T" userId="11b786adde653a70" providerId="LiveId" clId="{39FEFDD4-A459-4121-B2AB-EBE8D81FC9EC}" dt="2025-10-27T15:34:54.175" v="366" actId="478"/>
          <ac:picMkLst>
            <pc:docMk/>
            <pc:sldMk cId="974135195" sldId="271"/>
            <ac:picMk id="3" creationId="{F21CCF51-2BF0-B997-D109-58BE45B18B04}"/>
          </ac:picMkLst>
        </pc:picChg>
        <pc:picChg chg="add del mod">
          <ac:chgData name="POOMATHI T" userId="11b786adde653a70" providerId="LiveId" clId="{39FEFDD4-A459-4121-B2AB-EBE8D81FC9EC}" dt="2025-10-27T15:34:38.412" v="364" actId="478"/>
          <ac:picMkLst>
            <pc:docMk/>
            <pc:sldMk cId="974135195" sldId="271"/>
            <ac:picMk id="4" creationId="{88B53263-C735-51F1-D7C4-CCDF9383CF2B}"/>
          </ac:picMkLst>
        </pc:picChg>
        <pc:picChg chg="add del mod">
          <ac:chgData name="POOMATHI T" userId="11b786adde653a70" providerId="LiveId" clId="{39FEFDD4-A459-4121-B2AB-EBE8D81FC9EC}" dt="2025-10-27T15:36:19.173" v="368" actId="478"/>
          <ac:picMkLst>
            <pc:docMk/>
            <pc:sldMk cId="974135195" sldId="271"/>
            <ac:picMk id="6" creationId="{1E870814-1E95-B8D8-E10B-256DA8BE1AA5}"/>
          </ac:picMkLst>
        </pc:picChg>
        <pc:picChg chg="add mod">
          <ac:chgData name="POOMATHI T" userId="11b786adde653a70" providerId="LiveId" clId="{39FEFDD4-A459-4121-B2AB-EBE8D81FC9EC}" dt="2025-10-27T15:36:56.770" v="373" actId="1076"/>
          <ac:picMkLst>
            <pc:docMk/>
            <pc:sldMk cId="974135195" sldId="271"/>
            <ac:picMk id="10" creationId="{EE7D3C75-C633-9E9E-48E4-B286A4D94C9A}"/>
          </ac:picMkLst>
        </pc:picChg>
      </pc:sldChg>
      <pc:sldChg chg="delSp modSp new mod">
        <pc:chgData name="POOMATHI T" userId="11b786adde653a70" providerId="LiveId" clId="{39FEFDD4-A459-4121-B2AB-EBE8D81FC9EC}" dt="2025-10-17T10:17:45.184" v="329" actId="1076"/>
        <pc:sldMkLst>
          <pc:docMk/>
          <pc:sldMk cId="3502478430" sldId="272"/>
        </pc:sldMkLst>
        <pc:spChg chg="mod">
          <ac:chgData name="POOMATHI T" userId="11b786adde653a70" providerId="LiveId" clId="{39FEFDD4-A459-4121-B2AB-EBE8D81FC9EC}" dt="2025-10-17T10:17:45.184" v="329" actId="1076"/>
          <ac:spMkLst>
            <pc:docMk/>
            <pc:sldMk cId="3502478430" sldId="272"/>
            <ac:spMk id="3" creationId="{3B68B343-4085-1657-B185-8B589071ED86}"/>
          </ac:spMkLst>
        </pc:spChg>
      </pc:sldChg>
      <pc:sldChg chg="modSp new del mod">
        <pc:chgData name="POOMATHI T" userId="11b786adde653a70" providerId="LiveId" clId="{39FEFDD4-A459-4121-B2AB-EBE8D81FC9EC}" dt="2025-10-03T05:31:54.879" v="104" actId="47"/>
        <pc:sldMkLst>
          <pc:docMk/>
          <pc:sldMk cId="1224776516" sldId="273"/>
        </pc:sldMkLst>
      </pc:sldChg>
      <pc:sldChg chg="delSp modSp new mod">
        <pc:chgData name="POOMATHI T" userId="11b786adde653a70" providerId="LiveId" clId="{39FEFDD4-A459-4121-B2AB-EBE8D81FC9EC}" dt="2025-10-03T05:58:54.519" v="121" actId="1076"/>
        <pc:sldMkLst>
          <pc:docMk/>
          <pc:sldMk cId="3199881924" sldId="273"/>
        </pc:sldMkLst>
        <pc:spChg chg="mod">
          <ac:chgData name="POOMATHI T" userId="11b786adde653a70" providerId="LiveId" clId="{39FEFDD4-A459-4121-B2AB-EBE8D81FC9EC}" dt="2025-10-03T05:58:54.519" v="121" actId="1076"/>
          <ac:spMkLst>
            <pc:docMk/>
            <pc:sldMk cId="3199881924" sldId="273"/>
            <ac:spMk id="2" creationId="{3142562A-3A07-999D-7467-97A6086FA89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DF201A9-B88B-4326-AD7B-3B83DB0E2A30}" type="datetimeFigureOut">
              <a:rPr lang="en-IN" smtClean="0"/>
              <a:pPr/>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C49930-98E2-40F8-AB16-B838E6869EC0}" type="slidenum">
              <a:rPr lang="en-IN" smtClean="0"/>
              <a:pPr/>
              <a:t>‹#›</a:t>
            </a:fld>
            <a:endParaRPr lang="en-IN"/>
          </a:p>
        </p:txBody>
      </p:sp>
    </p:spTree>
    <p:extLst>
      <p:ext uri="{BB962C8B-B14F-4D97-AF65-F5344CB8AC3E}">
        <p14:creationId xmlns="" xmlns:p14="http://schemas.microsoft.com/office/powerpoint/2010/main" val="926233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F201A9-B88B-4326-AD7B-3B83DB0E2A30}" type="datetimeFigureOut">
              <a:rPr lang="en-IN" smtClean="0"/>
              <a:pPr/>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C49930-98E2-40F8-AB16-B838E6869EC0}" type="slidenum">
              <a:rPr lang="en-IN" smtClean="0"/>
              <a:pPr/>
              <a:t>‹#›</a:t>
            </a:fld>
            <a:endParaRPr lang="en-IN"/>
          </a:p>
        </p:txBody>
      </p:sp>
    </p:spTree>
    <p:extLst>
      <p:ext uri="{BB962C8B-B14F-4D97-AF65-F5344CB8AC3E}">
        <p14:creationId xmlns="" xmlns:p14="http://schemas.microsoft.com/office/powerpoint/2010/main" val="144143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F201A9-B88B-4326-AD7B-3B83DB0E2A30}" type="datetimeFigureOut">
              <a:rPr lang="en-IN" smtClean="0"/>
              <a:pPr/>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C49930-98E2-40F8-AB16-B838E6869EC0}" type="slidenum">
              <a:rPr lang="en-IN" smtClean="0"/>
              <a:pPr/>
              <a:t>‹#›</a:t>
            </a:fld>
            <a:endParaRPr lang="en-IN"/>
          </a:p>
        </p:txBody>
      </p:sp>
    </p:spTree>
    <p:extLst>
      <p:ext uri="{BB962C8B-B14F-4D97-AF65-F5344CB8AC3E}">
        <p14:creationId xmlns="" xmlns:p14="http://schemas.microsoft.com/office/powerpoint/2010/main" val="9113022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DF201A9-B88B-4326-AD7B-3B83DB0E2A30}" type="datetimeFigureOut">
              <a:rPr lang="en-IN" smtClean="0"/>
              <a:pPr/>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C49930-98E2-40F8-AB16-B838E6869EC0}" type="slidenum">
              <a:rPr lang="en-IN" smtClean="0"/>
              <a:pPr/>
              <a:t>‹#›</a:t>
            </a:fld>
            <a:endParaRPr lang="en-IN"/>
          </a:p>
        </p:txBody>
      </p:sp>
    </p:spTree>
    <p:extLst>
      <p:ext uri="{BB962C8B-B14F-4D97-AF65-F5344CB8AC3E}">
        <p14:creationId xmlns="" xmlns:p14="http://schemas.microsoft.com/office/powerpoint/2010/main" val="3099345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DF201A9-B88B-4326-AD7B-3B83DB0E2A30}" type="datetimeFigureOut">
              <a:rPr lang="en-IN" smtClean="0"/>
              <a:pPr/>
              <a:t>03-02-2026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0C49930-98E2-40F8-AB16-B838E6869EC0}" type="slidenum">
              <a:rPr lang="en-IN" smtClean="0"/>
              <a:pPr/>
              <a:t>‹#›</a:t>
            </a:fld>
            <a:endParaRPr lang="en-IN"/>
          </a:p>
        </p:txBody>
      </p:sp>
    </p:spTree>
    <p:extLst>
      <p:ext uri="{BB962C8B-B14F-4D97-AF65-F5344CB8AC3E}">
        <p14:creationId xmlns="" xmlns:p14="http://schemas.microsoft.com/office/powerpoint/2010/main" val="1024643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DF201A9-B88B-4326-AD7B-3B83DB0E2A30}" type="datetimeFigureOut">
              <a:rPr lang="en-IN" smtClean="0"/>
              <a:pPr/>
              <a:t>03-02-2026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0C49930-98E2-40F8-AB16-B838E6869EC0}" type="slidenum">
              <a:rPr lang="en-IN" smtClean="0"/>
              <a:pPr/>
              <a:t>‹#›</a:t>
            </a:fld>
            <a:endParaRPr lang="en-IN"/>
          </a:p>
        </p:txBody>
      </p:sp>
    </p:spTree>
    <p:extLst>
      <p:ext uri="{BB962C8B-B14F-4D97-AF65-F5344CB8AC3E}">
        <p14:creationId xmlns="" xmlns:p14="http://schemas.microsoft.com/office/powerpoint/2010/main" val="4248415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F201A9-B88B-4326-AD7B-3B83DB0E2A30}" type="datetimeFigureOut">
              <a:rPr lang="en-IN" smtClean="0"/>
              <a:pPr/>
              <a:t>03-02-2026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0C49930-98E2-40F8-AB16-B838E6869EC0}" type="slidenum">
              <a:rPr lang="en-IN" smtClean="0"/>
              <a:pPr/>
              <a:t>‹#›</a:t>
            </a:fld>
            <a:endParaRPr lang="en-IN"/>
          </a:p>
        </p:txBody>
      </p:sp>
    </p:spTree>
    <p:extLst>
      <p:ext uri="{BB962C8B-B14F-4D97-AF65-F5344CB8AC3E}">
        <p14:creationId xmlns="" xmlns:p14="http://schemas.microsoft.com/office/powerpoint/2010/main" val="3468316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F201A9-B88B-4326-AD7B-3B83DB0E2A30}" type="datetimeFigureOut">
              <a:rPr lang="en-IN" smtClean="0"/>
              <a:pPr/>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C49930-98E2-40F8-AB16-B838E6869EC0}" type="slidenum">
              <a:rPr lang="en-IN" smtClean="0"/>
              <a:pPr/>
              <a:t>‹#›</a:t>
            </a:fld>
            <a:endParaRPr lang="en-IN"/>
          </a:p>
        </p:txBody>
      </p:sp>
    </p:spTree>
    <p:extLst>
      <p:ext uri="{BB962C8B-B14F-4D97-AF65-F5344CB8AC3E}">
        <p14:creationId xmlns="" xmlns:p14="http://schemas.microsoft.com/office/powerpoint/2010/main" val="2462309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F201A9-B88B-4326-AD7B-3B83DB0E2A30}" type="datetimeFigureOut">
              <a:rPr lang="en-IN" smtClean="0"/>
              <a:pPr/>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C49930-98E2-40F8-AB16-B838E6869EC0}" type="slidenum">
              <a:rPr lang="en-IN" smtClean="0"/>
              <a:pPr/>
              <a:t>‹#›</a:t>
            </a:fld>
            <a:endParaRPr lang="en-IN"/>
          </a:p>
        </p:txBody>
      </p:sp>
    </p:spTree>
    <p:extLst>
      <p:ext uri="{BB962C8B-B14F-4D97-AF65-F5344CB8AC3E}">
        <p14:creationId xmlns="" xmlns:p14="http://schemas.microsoft.com/office/powerpoint/2010/main" val="1028373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F201A9-B88B-4326-AD7B-3B83DB0E2A30}" type="datetimeFigureOut">
              <a:rPr lang="en-IN" smtClean="0"/>
              <a:pPr/>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C49930-98E2-40F8-AB16-B838E6869EC0}" type="slidenum">
              <a:rPr lang="en-IN" smtClean="0"/>
              <a:pPr/>
              <a:t>‹#›</a:t>
            </a:fld>
            <a:endParaRPr lang="en-IN"/>
          </a:p>
        </p:txBody>
      </p:sp>
    </p:spTree>
    <p:extLst>
      <p:ext uri="{BB962C8B-B14F-4D97-AF65-F5344CB8AC3E}">
        <p14:creationId xmlns="" xmlns:p14="http://schemas.microsoft.com/office/powerpoint/2010/main" val="3638540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F201A9-B88B-4326-AD7B-3B83DB0E2A30}" type="datetimeFigureOut">
              <a:rPr lang="en-IN" smtClean="0"/>
              <a:pPr/>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C49930-98E2-40F8-AB16-B838E6869EC0}" type="slidenum">
              <a:rPr lang="en-IN" smtClean="0"/>
              <a:pPr/>
              <a:t>‹#›</a:t>
            </a:fld>
            <a:endParaRPr lang="en-IN"/>
          </a:p>
        </p:txBody>
      </p:sp>
    </p:spTree>
    <p:extLst>
      <p:ext uri="{BB962C8B-B14F-4D97-AF65-F5344CB8AC3E}">
        <p14:creationId xmlns="" xmlns:p14="http://schemas.microsoft.com/office/powerpoint/2010/main" val="1936503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F201A9-B88B-4326-AD7B-3B83DB0E2A30}" type="datetimeFigureOut">
              <a:rPr lang="en-IN" smtClean="0"/>
              <a:pPr/>
              <a:t>03-02-2026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C49930-98E2-40F8-AB16-B838E6869EC0}" type="slidenum">
              <a:rPr lang="en-IN" smtClean="0"/>
              <a:pPr/>
              <a:t>‹#›</a:t>
            </a:fld>
            <a:endParaRPr lang="en-IN"/>
          </a:p>
        </p:txBody>
      </p:sp>
    </p:spTree>
    <p:extLst>
      <p:ext uri="{BB962C8B-B14F-4D97-AF65-F5344CB8AC3E}">
        <p14:creationId xmlns="" xmlns:p14="http://schemas.microsoft.com/office/powerpoint/2010/main" val="3240008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71222" y="2406317"/>
            <a:ext cx="9049555" cy="1857676"/>
          </a:xfrm>
        </p:spPr>
        <p:txBody>
          <a:bodyPr>
            <a:normAutofit/>
          </a:bodyPr>
          <a:lstStyle/>
          <a:p>
            <a:r>
              <a:rPr lang="en-US" b="1" dirty="0"/>
              <a:t>SPACE SUIT HEALTH</a:t>
            </a:r>
            <a:br>
              <a:rPr lang="en-US" b="1" dirty="0"/>
            </a:br>
            <a:r>
              <a:rPr lang="en-US" b="1" dirty="0"/>
              <a:t>MONITOR</a:t>
            </a:r>
            <a:endParaRPr lang="en-IN" b="1" dirty="0"/>
          </a:p>
        </p:txBody>
      </p:sp>
      <p:sp>
        <p:nvSpPr>
          <p:cNvPr id="3" name="Subtitle 2"/>
          <p:cNvSpPr>
            <a:spLocks noGrp="1"/>
          </p:cNvSpPr>
          <p:nvPr>
            <p:ph type="subTitle" idx="1"/>
          </p:nvPr>
        </p:nvSpPr>
        <p:spPr>
          <a:xfrm>
            <a:off x="1166960" y="3072865"/>
            <a:ext cx="4213562" cy="2232092"/>
          </a:xfrm>
        </p:spPr>
        <p:txBody>
          <a:bodyPr>
            <a:noAutofit/>
          </a:bodyPr>
          <a:lstStyle/>
          <a:p>
            <a:pPr algn="l"/>
            <a:endParaRPr lang="en-US" dirty="0">
              <a:cs typeface="Times New Roman" pitchFamily="18" charset="0"/>
            </a:endParaRPr>
          </a:p>
          <a:p>
            <a:pPr algn="l"/>
            <a:endParaRPr lang="en-US" dirty="0" smtClean="0">
              <a:ln w="0"/>
              <a:effectLst>
                <a:outerShdw blurRad="38100" dist="19050" dir="2700000" algn="tl" rotWithShape="0">
                  <a:schemeClr val="dk1">
                    <a:alpha val="40000"/>
                  </a:schemeClr>
                </a:outerShdw>
              </a:effectLst>
              <a:cs typeface="Times New Roman" pitchFamily="18" charset="0"/>
            </a:endParaRPr>
          </a:p>
          <a:p>
            <a:pPr algn="l"/>
            <a:endParaRPr lang="en-US" dirty="0">
              <a:cs typeface="Times New Roman" pitchFamily="18" charset="0"/>
            </a:endParaRPr>
          </a:p>
          <a:p>
            <a:pPr algn="l"/>
            <a:endParaRPr lang="en-US" dirty="0">
              <a:cs typeface="Times New Roman" pitchFamily="18" charset="0"/>
            </a:endParaRPr>
          </a:p>
          <a:p>
            <a:pPr algn="l"/>
            <a:endParaRPr lang="en-IN" dirty="0">
              <a:cs typeface="Times New Roman" pitchFamily="18" charset="0"/>
            </a:endParaRPr>
          </a:p>
        </p:txBody>
      </p:sp>
      <p:sp>
        <p:nvSpPr>
          <p:cNvPr id="12" name="Rectangle 11"/>
          <p:cNvSpPr/>
          <p:nvPr/>
        </p:nvSpPr>
        <p:spPr>
          <a:xfrm>
            <a:off x="7006107" y="3517755"/>
            <a:ext cx="4945487" cy="1292662"/>
          </a:xfrm>
          <a:prstGeom prst="rect">
            <a:avLst/>
          </a:prstGeom>
          <a:noFill/>
        </p:spPr>
        <p:txBody>
          <a:bodyPr wrap="square" lIns="91440" tIns="45720" rIns="91440" bIns="45720">
            <a:spAutoFit/>
          </a:bodyPr>
          <a:lstStyle/>
          <a:p>
            <a:pPr algn="ctr"/>
            <a:endParaRPr lang="en-US" sz="2400" dirty="0">
              <a:ln w="0"/>
              <a:effectLst>
                <a:outerShdw blurRad="38100" dist="19050" dir="2700000" algn="tl" rotWithShape="0">
                  <a:schemeClr val="dk1">
                    <a:alpha val="40000"/>
                  </a:schemeClr>
                </a:outerShdw>
              </a:effectLst>
            </a:endParaRPr>
          </a:p>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 xmlns:p14="http://schemas.microsoft.com/office/powerpoint/2010/main" val="39648826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7126" y="1056068"/>
            <a:ext cx="11354873" cy="5306095"/>
          </a:xfrm>
        </p:spPr>
        <p:txBody>
          <a:bodyPr>
            <a:normAutofit/>
          </a:bodyPr>
          <a:lstStyle/>
          <a:p>
            <a:r>
              <a:rPr lang="en-US" sz="3200" dirty="0"/>
              <a:t>The main objective of the Space Suit Health Monitoring System is to check the astronaut’s health in real-time</a:t>
            </a:r>
            <a:r>
              <a:rPr lang="en-US" sz="3200" dirty="0" smtClean="0"/>
              <a:t>.</a:t>
            </a:r>
          </a:p>
          <a:p>
            <a:pPr marL="0" indent="0">
              <a:buNone/>
            </a:pPr>
            <a:endParaRPr lang="en-US" sz="3200" dirty="0" smtClean="0"/>
          </a:p>
          <a:p>
            <a:r>
              <a:rPr lang="en-US" sz="3200" dirty="0" smtClean="0"/>
              <a:t>It </a:t>
            </a:r>
            <a:r>
              <a:rPr lang="en-US" sz="3200" dirty="0"/>
              <a:t>measures body temperature, heart rate, oxygen level, and humidity inside the suit and sends the data to the ground station</a:t>
            </a:r>
            <a:r>
              <a:rPr lang="en-US" sz="3200" dirty="0" smtClean="0"/>
              <a:t>.</a:t>
            </a:r>
          </a:p>
          <a:p>
            <a:pPr marL="0" indent="0">
              <a:buNone/>
            </a:pPr>
            <a:endParaRPr lang="en-US" sz="3200" dirty="0" smtClean="0"/>
          </a:p>
          <a:p>
            <a:r>
              <a:rPr lang="en-US" sz="3200" dirty="0" smtClean="0"/>
              <a:t>This </a:t>
            </a:r>
            <a:r>
              <a:rPr lang="en-US" sz="3200" dirty="0"/>
              <a:t>helps to detect any health problem early and keep the astronaut safe during the space mission.</a:t>
            </a:r>
            <a:endParaRPr lang="en-US" sz="3200" dirty="0" smtClean="0"/>
          </a:p>
          <a:p>
            <a:endParaRPr lang="en-US" sz="2400" dirty="0"/>
          </a:p>
        </p:txBody>
      </p:sp>
      <p:sp>
        <p:nvSpPr>
          <p:cNvPr id="4" name="Rectangle 3"/>
          <p:cNvSpPr/>
          <p:nvPr/>
        </p:nvSpPr>
        <p:spPr>
          <a:xfrm>
            <a:off x="763325" y="342109"/>
            <a:ext cx="4397071" cy="646331"/>
          </a:xfrm>
          <a:prstGeom prst="rect">
            <a:avLst/>
          </a:prstGeom>
        </p:spPr>
        <p:txBody>
          <a:bodyPr wrap="square">
            <a:spAutoFit/>
          </a:bodyPr>
          <a:lstStyle/>
          <a:p>
            <a:r>
              <a:rPr lang="en-US" sz="3600" b="1" dirty="0" smtClean="0"/>
              <a:t>OBJECTIVE</a:t>
            </a:r>
            <a:endParaRPr lang="en-US" sz="3600" dirty="0"/>
          </a:p>
        </p:txBody>
      </p:sp>
    </p:spTree>
    <p:extLst>
      <p:ext uri="{BB962C8B-B14F-4D97-AF65-F5344CB8AC3E}">
        <p14:creationId xmlns="" xmlns:p14="http://schemas.microsoft.com/office/powerpoint/2010/main" val="2238348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996" y="387466"/>
            <a:ext cx="4327301" cy="665184"/>
          </a:xfrm>
        </p:spPr>
        <p:txBody>
          <a:bodyPr>
            <a:normAutofit/>
          </a:bodyPr>
          <a:lstStyle/>
          <a:p>
            <a:r>
              <a:rPr lang="en-US" sz="3600" b="1" dirty="0"/>
              <a:t>INTRODUCTION</a:t>
            </a:r>
            <a:endParaRPr lang="en-IN" sz="3600" b="1" dirty="0"/>
          </a:p>
        </p:txBody>
      </p:sp>
      <p:sp>
        <p:nvSpPr>
          <p:cNvPr id="3" name="Content Placeholder 2"/>
          <p:cNvSpPr>
            <a:spLocks noGrp="1"/>
          </p:cNvSpPr>
          <p:nvPr>
            <p:ph idx="1"/>
          </p:nvPr>
        </p:nvSpPr>
        <p:spPr>
          <a:xfrm>
            <a:off x="660370" y="1052650"/>
            <a:ext cx="11033647" cy="5460642"/>
          </a:xfrm>
        </p:spPr>
        <p:txBody>
          <a:bodyPr>
            <a:normAutofit lnSpcReduction="10000"/>
          </a:bodyPr>
          <a:lstStyle/>
          <a:p>
            <a:r>
              <a:rPr lang="en-US" dirty="0" smtClean="0"/>
              <a:t>The PLSS(portable life support system) is like the heart of the space suit it controls the oxygen, temperature, humidity, and pressure inside the suit.</a:t>
            </a:r>
          </a:p>
          <a:p>
            <a:pPr>
              <a:buNone/>
            </a:pPr>
            <a:endParaRPr lang="en-US" dirty="0" smtClean="0"/>
          </a:p>
          <a:p>
            <a:r>
              <a:rPr lang="en-US" dirty="0" smtClean="0"/>
              <a:t> When an abnormal condition occurs, the PLSS automatically detects, responds, and protects the astronaut.</a:t>
            </a:r>
          </a:p>
          <a:p>
            <a:pPr>
              <a:buNone/>
            </a:pPr>
            <a:endParaRPr lang="en-US" dirty="0" smtClean="0"/>
          </a:p>
          <a:p>
            <a:r>
              <a:rPr lang="en-US" dirty="0" smtClean="0"/>
              <a:t>Oxygen Sensor (</a:t>
            </a:r>
            <a:r>
              <a:rPr lang="en-US" dirty="0" err="1" smtClean="0"/>
              <a:t>SpO</a:t>
            </a:r>
            <a:r>
              <a:rPr lang="en-US" dirty="0" smtClean="0"/>
              <a:t>₂):Oxygen level goes too low . PLSS increases oxygen flow from the tank to maintain proper breathing level. It sends an alert to the ground station.</a:t>
            </a:r>
          </a:p>
          <a:p>
            <a:pPr>
              <a:buNone/>
            </a:pPr>
            <a:endParaRPr lang="en-US" dirty="0" smtClean="0"/>
          </a:p>
          <a:p>
            <a:r>
              <a:rPr lang="en-US" dirty="0" smtClean="0"/>
              <a:t> Humidity Sensor :Humidity too high inside the suit	PLSS activates the dehumidifier or adjusts air circulation to reduce moisture .</a:t>
            </a:r>
          </a:p>
        </p:txBody>
      </p:sp>
    </p:spTree>
    <p:extLst>
      <p:ext uri="{BB962C8B-B14F-4D97-AF65-F5344CB8AC3E}">
        <p14:creationId xmlns="" xmlns:p14="http://schemas.microsoft.com/office/powerpoint/2010/main" val="914129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3958" y="1171016"/>
            <a:ext cx="11049000" cy="5216905"/>
          </a:xfrm>
        </p:spPr>
        <p:txBody>
          <a:bodyPr>
            <a:normAutofit/>
          </a:bodyPr>
          <a:lstStyle/>
          <a:p>
            <a:pPr marL="0" indent="0">
              <a:buNone/>
            </a:pPr>
            <a:r>
              <a:rPr lang="en-US" dirty="0" smtClean="0"/>
              <a:t>1.PowerSupply </a:t>
            </a:r>
            <a:r>
              <a:rPr lang="en-US" dirty="0" smtClean="0">
                <a:latin typeface="Arial Rounded MT Bold" pitchFamily="34" charset="0"/>
              </a:rPr>
              <a:t>: </a:t>
            </a:r>
            <a:r>
              <a:rPr lang="en-US" dirty="0" smtClean="0"/>
              <a:t>Provides </a:t>
            </a:r>
            <a:r>
              <a:rPr lang="en-US" dirty="0"/>
              <a:t>necessary power to the ESP32 </a:t>
            </a:r>
            <a:r>
              <a:rPr lang="en-US" dirty="0" smtClean="0"/>
              <a:t>.</a:t>
            </a:r>
          </a:p>
          <a:p>
            <a:pPr marL="0" indent="0">
              <a:buNone/>
            </a:pPr>
            <a:endParaRPr lang="en-US" dirty="0"/>
          </a:p>
          <a:p>
            <a:pPr marL="0" indent="0">
              <a:buNone/>
            </a:pPr>
            <a:r>
              <a:rPr lang="en-US" dirty="0"/>
              <a:t>2. Sensor Data Collection:DHT11 sensor measures the temperature and humidity inside the </a:t>
            </a:r>
            <a:r>
              <a:rPr lang="en-US" dirty="0" smtClean="0"/>
              <a:t>space suit.Max30100 sensor measure heart beat,Max30102 sensor measure oxygen level.</a:t>
            </a:r>
          </a:p>
          <a:p>
            <a:pPr marL="0" indent="0">
              <a:buNone/>
            </a:pPr>
            <a:endParaRPr lang="en-US" dirty="0"/>
          </a:p>
          <a:p>
            <a:pPr marL="0" indent="0">
              <a:buNone/>
            </a:pPr>
            <a:r>
              <a:rPr lang="en-US" dirty="0"/>
              <a:t>3. Data Processing (ESP32):The ESP32 microcontroller collects and processes all the sensor readings. </a:t>
            </a:r>
            <a:endParaRPr lang="en-US" dirty="0" smtClean="0"/>
          </a:p>
          <a:p>
            <a:pPr marL="0" indent="0">
              <a:buNone/>
            </a:pPr>
            <a:endParaRPr lang="en-US" dirty="0"/>
          </a:p>
          <a:p>
            <a:pPr marL="0" indent="0">
              <a:buNone/>
            </a:pPr>
            <a:r>
              <a:rPr lang="en-US" dirty="0"/>
              <a:t>4. </a:t>
            </a:r>
            <a:r>
              <a:rPr lang="en-US" dirty="0" err="1" smtClean="0"/>
              <a:t>IoT</a:t>
            </a:r>
            <a:r>
              <a:rPr lang="en-US" dirty="0" smtClean="0"/>
              <a:t> </a:t>
            </a:r>
            <a:r>
              <a:rPr lang="en-US" dirty="0"/>
              <a:t>Data </a:t>
            </a:r>
            <a:r>
              <a:rPr lang="en-US" dirty="0" smtClean="0"/>
              <a:t>Transmission : The </a:t>
            </a:r>
            <a:r>
              <a:rPr lang="en-US" dirty="0"/>
              <a:t>processed data is transmitted wirelessly to a cloud </a:t>
            </a:r>
            <a:r>
              <a:rPr lang="en-US" dirty="0" smtClean="0"/>
              <a:t>platform.</a:t>
            </a:r>
          </a:p>
          <a:p>
            <a:pPr marL="0" indent="0">
              <a:buNone/>
            </a:pPr>
            <a:endParaRPr lang="en-US" dirty="0"/>
          </a:p>
          <a:p>
            <a:pPr marL="0" indent="0">
              <a:buNone/>
            </a:pPr>
            <a:endParaRPr lang="en-IN" dirty="0"/>
          </a:p>
          <a:p>
            <a:endParaRPr lang="en-IN" dirty="0"/>
          </a:p>
        </p:txBody>
      </p:sp>
      <p:sp>
        <p:nvSpPr>
          <p:cNvPr id="4" name="Title 1"/>
          <p:cNvSpPr>
            <a:spLocks noGrp="1"/>
          </p:cNvSpPr>
          <p:nvPr>
            <p:ph type="title"/>
          </p:nvPr>
        </p:nvSpPr>
        <p:spPr>
          <a:xfrm>
            <a:off x="355635" y="0"/>
            <a:ext cx="10515600" cy="1325563"/>
          </a:xfrm>
        </p:spPr>
        <p:txBody>
          <a:bodyPr>
            <a:normAutofit/>
          </a:bodyPr>
          <a:lstStyle/>
          <a:p>
            <a:r>
              <a:rPr lang="en-US" sz="3600" b="1" dirty="0" smtClean="0"/>
              <a:t>PROPOSED METHODOLOGY</a:t>
            </a:r>
            <a:endParaRPr lang="en-IN" sz="3600" b="1" dirty="0"/>
          </a:p>
        </p:txBody>
      </p:sp>
    </p:spTree>
    <p:extLst>
      <p:ext uri="{BB962C8B-B14F-4D97-AF65-F5344CB8AC3E}">
        <p14:creationId xmlns="" xmlns:p14="http://schemas.microsoft.com/office/powerpoint/2010/main" val="35895322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851" y="365126"/>
            <a:ext cx="4945487" cy="497760"/>
          </a:xfrm>
        </p:spPr>
        <p:txBody>
          <a:bodyPr>
            <a:noAutofit/>
          </a:bodyPr>
          <a:lstStyle/>
          <a:p>
            <a:r>
              <a:rPr lang="en-US" sz="3600" b="1" dirty="0"/>
              <a:t>TECHNICAL APPROACH</a:t>
            </a:r>
            <a:endParaRPr lang="en-IN" sz="3600" b="1" dirty="0"/>
          </a:p>
        </p:txBody>
      </p:sp>
      <p:sp>
        <p:nvSpPr>
          <p:cNvPr id="3" name="Content Placeholder 2"/>
          <p:cNvSpPr>
            <a:spLocks noGrp="1"/>
          </p:cNvSpPr>
          <p:nvPr>
            <p:ph idx="1"/>
          </p:nvPr>
        </p:nvSpPr>
        <p:spPr>
          <a:xfrm>
            <a:off x="554865" y="1040014"/>
            <a:ext cx="11370972" cy="5296392"/>
          </a:xfrm>
        </p:spPr>
        <p:txBody>
          <a:bodyPr>
            <a:normAutofit/>
          </a:bodyPr>
          <a:lstStyle/>
          <a:p>
            <a:pPr marL="514350" indent="-514350">
              <a:buAutoNum type="arabicPeriod"/>
            </a:pPr>
            <a:r>
              <a:rPr lang="en-IN" dirty="0"/>
              <a:t>Hardware </a:t>
            </a:r>
            <a:r>
              <a:rPr lang="en-IN" dirty="0" smtClean="0"/>
              <a:t>Components:</a:t>
            </a:r>
          </a:p>
          <a:p>
            <a:pPr marL="0" indent="0">
              <a:buNone/>
            </a:pPr>
            <a:r>
              <a:rPr lang="en-IN" dirty="0"/>
              <a:t> </a:t>
            </a:r>
            <a:r>
              <a:rPr lang="en-IN" dirty="0" smtClean="0"/>
              <a:t>             ESP32 Microcontroller.</a:t>
            </a:r>
          </a:p>
          <a:p>
            <a:pPr marL="0" indent="0">
              <a:buNone/>
            </a:pPr>
            <a:r>
              <a:rPr lang="en-IN" dirty="0"/>
              <a:t> </a:t>
            </a:r>
            <a:r>
              <a:rPr lang="en-IN" dirty="0" smtClean="0"/>
              <a:t>             DHT11 Sensor.</a:t>
            </a:r>
          </a:p>
          <a:p>
            <a:pPr marL="0" indent="0">
              <a:buNone/>
            </a:pPr>
            <a:r>
              <a:rPr lang="en-IN" dirty="0"/>
              <a:t> </a:t>
            </a:r>
            <a:r>
              <a:rPr lang="en-IN" dirty="0" smtClean="0"/>
              <a:t>             Heartbeat Sensor.</a:t>
            </a:r>
          </a:p>
          <a:p>
            <a:pPr marL="0" indent="0">
              <a:buNone/>
            </a:pPr>
            <a:r>
              <a:rPr lang="en-IN" dirty="0"/>
              <a:t> </a:t>
            </a:r>
            <a:r>
              <a:rPr lang="en-IN" dirty="0" smtClean="0"/>
              <a:t>             </a:t>
            </a:r>
            <a:r>
              <a:rPr lang="en-IN" dirty="0" err="1" smtClean="0"/>
              <a:t>SpO</a:t>
            </a:r>
            <a:r>
              <a:rPr lang="en-IN" dirty="0"/>
              <a:t>₂ Sensor </a:t>
            </a:r>
            <a:r>
              <a:rPr lang="en-IN" dirty="0" smtClean="0"/>
              <a:t>.</a:t>
            </a:r>
          </a:p>
          <a:p>
            <a:pPr marL="0" indent="0">
              <a:buNone/>
            </a:pPr>
            <a:r>
              <a:rPr lang="en-IN" dirty="0"/>
              <a:t> </a:t>
            </a:r>
            <a:r>
              <a:rPr lang="en-IN" dirty="0" smtClean="0"/>
              <a:t>             Power </a:t>
            </a:r>
            <a:r>
              <a:rPr lang="en-IN" dirty="0"/>
              <a:t>Supply </a:t>
            </a:r>
            <a:r>
              <a:rPr lang="en-IN" dirty="0" smtClean="0"/>
              <a:t>Unit.</a:t>
            </a:r>
          </a:p>
          <a:p>
            <a:pPr marL="0" indent="0">
              <a:buNone/>
            </a:pPr>
            <a:r>
              <a:rPr lang="en-IN" dirty="0" smtClean="0"/>
              <a:t>2</a:t>
            </a:r>
            <a:r>
              <a:rPr lang="en-IN" dirty="0"/>
              <a:t>. Software </a:t>
            </a:r>
            <a:r>
              <a:rPr lang="en-IN" dirty="0" smtClean="0"/>
              <a:t>Components :</a:t>
            </a:r>
          </a:p>
          <a:p>
            <a:pPr marL="0" indent="0">
              <a:buNone/>
            </a:pPr>
            <a:r>
              <a:rPr lang="en-IN" dirty="0"/>
              <a:t> </a:t>
            </a:r>
            <a:r>
              <a:rPr lang="en-IN" dirty="0" smtClean="0"/>
              <a:t>             </a:t>
            </a:r>
            <a:r>
              <a:rPr lang="en-IN" dirty="0" err="1" smtClean="0"/>
              <a:t>Arduino</a:t>
            </a:r>
            <a:r>
              <a:rPr lang="en-IN" dirty="0" smtClean="0"/>
              <a:t> IDE.</a:t>
            </a:r>
          </a:p>
          <a:p>
            <a:pPr marL="0" indent="0">
              <a:buNone/>
            </a:pPr>
            <a:r>
              <a:rPr lang="en-IN" dirty="0"/>
              <a:t> </a:t>
            </a:r>
            <a:r>
              <a:rPr lang="en-IN" dirty="0" smtClean="0"/>
              <a:t>             </a:t>
            </a:r>
            <a:r>
              <a:rPr lang="en-IN" dirty="0" err="1" smtClean="0"/>
              <a:t>IoT</a:t>
            </a:r>
            <a:r>
              <a:rPr lang="en-IN" dirty="0" smtClean="0"/>
              <a:t> Platform.</a:t>
            </a:r>
          </a:p>
          <a:p>
            <a:pPr marL="0" indent="0">
              <a:buNone/>
            </a:pPr>
            <a:r>
              <a:rPr lang="en-IN" dirty="0"/>
              <a:t> </a:t>
            </a:r>
            <a:r>
              <a:rPr lang="en-IN" dirty="0" smtClean="0"/>
              <a:t>             Embedded </a:t>
            </a:r>
            <a:r>
              <a:rPr lang="en-IN" dirty="0"/>
              <a:t>C </a:t>
            </a:r>
            <a:r>
              <a:rPr lang="en-IN" dirty="0" smtClean="0"/>
              <a:t>++</a:t>
            </a:r>
            <a:endParaRPr lang="en-IN" dirty="0"/>
          </a:p>
          <a:p>
            <a:endParaRPr lang="en-IN" dirty="0"/>
          </a:p>
        </p:txBody>
      </p:sp>
    </p:spTree>
    <p:extLst>
      <p:ext uri="{BB962C8B-B14F-4D97-AF65-F5344CB8AC3E}">
        <p14:creationId xmlns="" xmlns:p14="http://schemas.microsoft.com/office/powerpoint/2010/main" val="12637498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9FFEC291-2287-3385-0822-0F0E82F9E602}"/>
              </a:ext>
            </a:extLst>
          </p:cNvPr>
          <p:cNvSpPr/>
          <p:nvPr/>
        </p:nvSpPr>
        <p:spPr>
          <a:xfrm>
            <a:off x="553792" y="412483"/>
            <a:ext cx="5228822" cy="923330"/>
          </a:xfrm>
          <a:prstGeom prst="rect">
            <a:avLst/>
          </a:prstGeom>
          <a:noFill/>
        </p:spPr>
        <p:txBody>
          <a:bodyPr wrap="square" lIns="91440" tIns="45720" rIns="91440" bIns="45720">
            <a:spAutoFit/>
          </a:bodyPr>
          <a:lstStyle/>
          <a:p>
            <a:pPr algn="ctr"/>
            <a:r>
              <a:rPr lang="en-US" sz="5400" dirty="0">
                <a:ln w="0"/>
                <a:effectLst>
                  <a:outerShdw blurRad="38100" dist="19050" dir="2700000" algn="tl" rotWithShape="0">
                    <a:schemeClr val="dk1">
                      <a:alpha val="40000"/>
                    </a:schemeClr>
                  </a:outerShdw>
                </a:effectLst>
              </a:rPr>
              <a:t>BLOCK DIAGRAM</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xmlns="" id="{D92037A2-7B97-F277-5CF1-C1713DF7A8C4}"/>
              </a:ext>
            </a:extLst>
          </p:cNvPr>
          <p:cNvSpPr/>
          <p:nvPr/>
        </p:nvSpPr>
        <p:spPr>
          <a:xfrm>
            <a:off x="2428006" y="4274323"/>
            <a:ext cx="1568641" cy="87464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2" name="Rectangle 11">
            <a:extLst>
              <a:ext uri="{FF2B5EF4-FFF2-40B4-BE49-F238E27FC236}">
                <a16:creationId xmlns:a16="http://schemas.microsoft.com/office/drawing/2014/main" xmlns="" id="{727A5786-5AAF-D271-53D3-CB487F5204A5}"/>
              </a:ext>
            </a:extLst>
          </p:cNvPr>
          <p:cNvSpPr/>
          <p:nvPr/>
        </p:nvSpPr>
        <p:spPr>
          <a:xfrm>
            <a:off x="2759517" y="3231710"/>
            <a:ext cx="1740920" cy="65697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3" name="Rectangle 12">
            <a:extLst>
              <a:ext uri="{FF2B5EF4-FFF2-40B4-BE49-F238E27FC236}">
                <a16:creationId xmlns:a16="http://schemas.microsoft.com/office/drawing/2014/main" xmlns="" id="{BA712F7D-D3EE-C084-FF93-B9F6CC1A3592}"/>
              </a:ext>
            </a:extLst>
          </p:cNvPr>
          <p:cNvSpPr/>
          <p:nvPr/>
        </p:nvSpPr>
        <p:spPr>
          <a:xfrm>
            <a:off x="3212327" y="3888680"/>
            <a:ext cx="190827" cy="73897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2" name="Picture 1"/>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1190725" y="1326187"/>
            <a:ext cx="9829800" cy="4764949"/>
          </a:xfrm>
          <a:prstGeom prst="rect">
            <a:avLst/>
          </a:prstGeom>
        </p:spPr>
      </p:pic>
      <p:sp>
        <p:nvSpPr>
          <p:cNvPr id="8" name="Right Arrow 7"/>
          <p:cNvSpPr/>
          <p:nvPr/>
        </p:nvSpPr>
        <p:spPr>
          <a:xfrm>
            <a:off x="7729087" y="3137836"/>
            <a:ext cx="625642" cy="3176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9741351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3806" y="133305"/>
            <a:ext cx="8164132" cy="935641"/>
          </a:xfrm>
        </p:spPr>
        <p:txBody>
          <a:bodyPr/>
          <a:lstStyle/>
          <a:p>
            <a:r>
              <a:rPr lang="en-US" b="1" dirty="0" smtClean="0"/>
              <a:t>Model</a:t>
            </a:r>
            <a:endParaRPr lang="en-IN" b="1" dirty="0"/>
          </a:p>
        </p:txBody>
      </p:sp>
      <p:pic>
        <p:nvPicPr>
          <p:cNvPr id="4" name="Content Placeholder 3"/>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2227665" y="1030445"/>
            <a:ext cx="7805383" cy="5398879"/>
          </a:xfrm>
        </p:spPr>
      </p:pic>
    </p:spTree>
    <p:extLst>
      <p:ext uri="{BB962C8B-B14F-4D97-AF65-F5344CB8AC3E}">
        <p14:creationId xmlns="" xmlns:p14="http://schemas.microsoft.com/office/powerpoint/2010/main" val="23602964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smtClean="0"/>
              <a:t>             </a:t>
            </a:r>
            <a:r>
              <a:rPr lang="en-US" b="1" dirty="0" smtClean="0"/>
              <a:t>INPUT AND OUTPUT FORMAT</a:t>
            </a:r>
          </a:p>
        </p:txBody>
      </p:sp>
      <p:sp>
        <p:nvSpPr>
          <p:cNvPr id="11" name="Text Placeholder 10"/>
          <p:cNvSpPr>
            <a:spLocks noGrp="1"/>
          </p:cNvSpPr>
          <p:nvPr>
            <p:ph type="body" idx="1"/>
          </p:nvPr>
        </p:nvSpPr>
        <p:spPr/>
        <p:txBody>
          <a:bodyPr/>
          <a:lstStyle/>
          <a:p>
            <a:r>
              <a:rPr lang="en-US" dirty="0" smtClean="0"/>
              <a:t>                    INPUT</a:t>
            </a:r>
            <a:endParaRPr lang="en-US" dirty="0"/>
          </a:p>
        </p:txBody>
      </p:sp>
      <p:pic>
        <p:nvPicPr>
          <p:cNvPr id="6" name="Content Placeholder 5" descr="saru2.jpg"/>
          <p:cNvPicPr>
            <a:picLocks noGrp="1" noChangeAspect="1"/>
          </p:cNvPicPr>
          <p:nvPr>
            <p:ph sz="half" idx="2"/>
          </p:nvPr>
        </p:nvPicPr>
        <p:blipFill>
          <a:blip r:embed="rId2"/>
          <a:stretch>
            <a:fillRect/>
          </a:stretch>
        </p:blipFill>
        <p:spPr>
          <a:xfrm rot="5400000">
            <a:off x="1407454" y="2219115"/>
            <a:ext cx="2746338" cy="4160269"/>
          </a:xfrm>
        </p:spPr>
      </p:pic>
      <p:sp>
        <p:nvSpPr>
          <p:cNvPr id="12" name="Text Placeholder 11"/>
          <p:cNvSpPr>
            <a:spLocks noGrp="1"/>
          </p:cNvSpPr>
          <p:nvPr>
            <p:ph type="body" sz="quarter" idx="3"/>
          </p:nvPr>
        </p:nvSpPr>
        <p:spPr/>
        <p:txBody>
          <a:bodyPr/>
          <a:lstStyle/>
          <a:p>
            <a:r>
              <a:rPr lang="en-US" dirty="0" smtClean="0"/>
              <a:t>                             OUTPUT</a:t>
            </a:r>
            <a:endParaRPr lang="en-US" dirty="0"/>
          </a:p>
        </p:txBody>
      </p:sp>
      <p:pic>
        <p:nvPicPr>
          <p:cNvPr id="7" name="Content Placeholder 3" descr="Screenshot 2025-10-29 134311.png"/>
          <p:cNvPicPr>
            <a:picLocks noChangeAspect="1"/>
          </p:cNvPicPr>
          <p:nvPr/>
        </p:nvPicPr>
        <p:blipFill>
          <a:blip r:embed="rId3" cstate="print"/>
          <a:srcRect t="9915" r="1937"/>
          <a:stretch>
            <a:fillRect/>
          </a:stretch>
        </p:blipFill>
        <p:spPr>
          <a:xfrm>
            <a:off x="5996539" y="2800952"/>
            <a:ext cx="5309119" cy="276245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42562A-3A07-999D-7467-97A6086FA89B}"/>
              </a:ext>
            </a:extLst>
          </p:cNvPr>
          <p:cNvSpPr>
            <a:spLocks noGrp="1"/>
          </p:cNvSpPr>
          <p:nvPr>
            <p:ph type="title"/>
          </p:nvPr>
        </p:nvSpPr>
        <p:spPr>
          <a:xfrm flipH="1" flipV="1">
            <a:off x="13683531" y="3901150"/>
            <a:ext cx="620297" cy="662685"/>
          </a:xfrm>
        </p:spPr>
        <p:txBody>
          <a:bodyPr>
            <a:normAutofit fontScale="90000"/>
          </a:bodyPr>
          <a:lstStyle/>
          <a:p>
            <a:endParaRPr lang="en-IN" sz="6000" dirty="0"/>
          </a:p>
        </p:txBody>
      </p:sp>
      <p:graphicFrame>
        <p:nvGraphicFramePr>
          <p:cNvPr id="4" name="Table 3"/>
          <p:cNvGraphicFramePr>
            <a:graphicFrameLocks noGrp="1"/>
          </p:cNvGraphicFramePr>
          <p:nvPr/>
        </p:nvGraphicFramePr>
        <p:xfrm>
          <a:off x="1110342" y="1257299"/>
          <a:ext cx="9388929" cy="5070019"/>
        </p:xfrm>
        <a:graphic>
          <a:graphicData uri="http://schemas.openxmlformats.org/drawingml/2006/table">
            <a:tbl>
              <a:tblPr firstRow="1" bandRow="1">
                <a:tableStyleId>{5C22544A-7EE6-4342-B048-85BDC9FD1C3A}</a:tableStyleId>
              </a:tblPr>
              <a:tblGrid>
                <a:gridCol w="916197"/>
                <a:gridCol w="4110284"/>
                <a:gridCol w="4362448"/>
              </a:tblGrid>
              <a:tr h="452396">
                <a:tc>
                  <a:txBody>
                    <a:bodyPr/>
                    <a:lstStyle/>
                    <a:p>
                      <a:r>
                        <a:rPr lang="en-US" dirty="0" err="1" smtClean="0"/>
                        <a:t>S.No</a:t>
                      </a:r>
                      <a:endParaRPr lang="en-US" dirty="0"/>
                    </a:p>
                  </a:txBody>
                  <a:tcPr/>
                </a:tc>
                <a:tc>
                  <a:txBody>
                    <a:bodyPr/>
                    <a:lstStyle/>
                    <a:p>
                      <a:r>
                        <a:rPr lang="en-US" dirty="0" smtClean="0"/>
                        <a:t>              Existing System</a:t>
                      </a:r>
                      <a:endParaRPr lang="en-US" dirty="0"/>
                    </a:p>
                  </a:txBody>
                  <a:tcPr/>
                </a:tc>
                <a:tc>
                  <a:txBody>
                    <a:bodyPr/>
                    <a:lstStyle/>
                    <a:p>
                      <a:r>
                        <a:rPr lang="en-US" dirty="0" smtClean="0"/>
                        <a:t>	Implemented System </a:t>
                      </a:r>
                      <a:endParaRPr lang="en-US" dirty="0"/>
                    </a:p>
                  </a:txBody>
                  <a:tcPr/>
                </a:tc>
              </a:tr>
              <a:tr h="938303">
                <a:tc>
                  <a:txBody>
                    <a:bodyPr/>
                    <a:lstStyle/>
                    <a:p>
                      <a:r>
                        <a:rPr lang="en-US" dirty="0" smtClean="0"/>
                        <a:t>1</a:t>
                      </a:r>
                    </a:p>
                    <a:p>
                      <a:endParaRPr lang="en-US" dirty="0" smtClean="0"/>
                    </a:p>
                    <a:p>
                      <a:endParaRPr lang="en-US" dirty="0"/>
                    </a:p>
                  </a:txBody>
                  <a:tcPr/>
                </a:tc>
                <a:tc>
                  <a:txBody>
                    <a:bodyPr/>
                    <a:lstStyle/>
                    <a:p>
                      <a:r>
                        <a:rPr lang="en-US" dirty="0" smtClean="0"/>
                        <a:t>Data is monitored manually.	</a:t>
                      </a:r>
                      <a:endParaRPr lang="en-US" dirty="0"/>
                    </a:p>
                  </a:txBody>
                  <a:tcPr/>
                </a:tc>
                <a:tc>
                  <a:txBody>
                    <a:bodyPr/>
                    <a:lstStyle/>
                    <a:p>
                      <a:r>
                        <a:rPr lang="en-US" dirty="0" smtClean="0"/>
                        <a:t>Data is automatically monitored using sensors.</a:t>
                      </a:r>
                      <a:endParaRPr lang="en-US" dirty="0"/>
                    </a:p>
                  </a:txBody>
                  <a:tcPr/>
                </a:tc>
              </a:tr>
              <a:tr h="735864">
                <a:tc>
                  <a:txBody>
                    <a:bodyPr/>
                    <a:lstStyle/>
                    <a:p>
                      <a:r>
                        <a:rPr lang="en-US" dirty="0" smtClean="0"/>
                        <a:t>2</a:t>
                      </a:r>
                      <a:endParaRPr lang="en-US" dirty="0"/>
                    </a:p>
                  </a:txBody>
                  <a:tcPr/>
                </a:tc>
                <a:tc>
                  <a:txBody>
                    <a:bodyPr/>
                    <a:lstStyle/>
                    <a:p>
                      <a:r>
                        <a:rPr lang="en-US" dirty="0" smtClean="0"/>
                        <a:t>No real-time health tracking for astronauts.	</a:t>
                      </a:r>
                      <a:endParaRPr lang="en-US" dirty="0"/>
                    </a:p>
                  </a:txBody>
                  <a:tcPr/>
                </a:tc>
                <a:tc>
                  <a:txBody>
                    <a:bodyPr/>
                    <a:lstStyle/>
                    <a:p>
                      <a:r>
                        <a:rPr lang="en-US" dirty="0" smtClean="0"/>
                        <a:t>Provides real-time monitoring and alert system.</a:t>
                      </a:r>
                      <a:endParaRPr lang="en-US" dirty="0"/>
                    </a:p>
                  </a:txBody>
                  <a:tcPr/>
                </a:tc>
              </a:tr>
              <a:tr h="735864">
                <a:tc>
                  <a:txBody>
                    <a:bodyPr/>
                    <a:lstStyle/>
                    <a:p>
                      <a:r>
                        <a:rPr lang="en-US" dirty="0" smtClean="0"/>
                        <a:t>3</a:t>
                      </a:r>
                      <a:endParaRPr lang="en-US" dirty="0"/>
                    </a:p>
                  </a:txBody>
                  <a:tcPr/>
                </a:tc>
                <a:tc>
                  <a:txBody>
                    <a:bodyPr/>
                    <a:lstStyle/>
                    <a:p>
                      <a:r>
                        <a:rPr lang="en-US" dirty="0" smtClean="0"/>
                        <a:t>Delay in sending information to ground station.	</a:t>
                      </a:r>
                      <a:endParaRPr lang="en-US" dirty="0"/>
                    </a:p>
                  </a:txBody>
                  <a:tcPr/>
                </a:tc>
                <a:tc>
                  <a:txBody>
                    <a:bodyPr/>
                    <a:lstStyle/>
                    <a:p>
                      <a:r>
                        <a:rPr lang="en-US" dirty="0" smtClean="0"/>
                        <a:t>Data is transmitted instantly through wireless communication.</a:t>
                      </a:r>
                      <a:endParaRPr lang="en-US" dirty="0"/>
                    </a:p>
                  </a:txBody>
                  <a:tcPr/>
                </a:tc>
              </a:tr>
              <a:tr h="735864">
                <a:tc>
                  <a:txBody>
                    <a:bodyPr/>
                    <a:lstStyle/>
                    <a:p>
                      <a:r>
                        <a:rPr lang="en-US" dirty="0" smtClean="0"/>
                        <a:t>4</a:t>
                      </a:r>
                      <a:endParaRPr lang="en-US" dirty="0"/>
                    </a:p>
                  </a:txBody>
                  <a:tcPr/>
                </a:tc>
                <a:tc>
                  <a:txBody>
                    <a:bodyPr/>
                    <a:lstStyle/>
                    <a:p>
                      <a:r>
                        <a:rPr lang="en-US" dirty="0" smtClean="0"/>
                        <a:t>High risk of missing critical health conditions.</a:t>
                      </a:r>
                      <a:endParaRPr lang="en-US" dirty="0"/>
                    </a:p>
                  </a:txBody>
                  <a:tcPr/>
                </a:tc>
                <a:tc>
                  <a:txBody>
                    <a:bodyPr/>
                    <a:lstStyle/>
                    <a:p>
                      <a:r>
                        <a:rPr lang="en-US" dirty="0" smtClean="0"/>
                        <a:t>Immediate alerts help prevent health issues.</a:t>
                      </a:r>
                      <a:endParaRPr lang="en-US" dirty="0"/>
                    </a:p>
                  </a:txBody>
                  <a:tcPr/>
                </a:tc>
              </a:tr>
              <a:tr h="735864">
                <a:tc>
                  <a:txBody>
                    <a:bodyPr/>
                    <a:lstStyle/>
                    <a:p>
                      <a:r>
                        <a:rPr lang="en-US" dirty="0" smtClean="0"/>
                        <a:t>5</a:t>
                      </a:r>
                      <a:endParaRPr lang="en-US" dirty="0"/>
                    </a:p>
                  </a:txBody>
                  <a:tcPr/>
                </a:tc>
                <a:tc>
                  <a:txBody>
                    <a:bodyPr/>
                    <a:lstStyle/>
                    <a:p>
                      <a:r>
                        <a:rPr lang="en-US" dirty="0" smtClean="0"/>
                        <a:t>No integration of humidity, temperature, and oxygen sensors.</a:t>
                      </a:r>
                      <a:endParaRPr lang="en-US" dirty="0"/>
                    </a:p>
                  </a:txBody>
                  <a:tcPr/>
                </a:tc>
                <a:tc>
                  <a:txBody>
                    <a:bodyPr/>
                    <a:lstStyle/>
                    <a:p>
                      <a:r>
                        <a:rPr lang="en-US" dirty="0" smtClean="0"/>
                        <a:t>Includes sensors to track temperature, heartbeat, oxygen, and humidity.</a:t>
                      </a:r>
                      <a:endParaRPr lang="en-US" dirty="0"/>
                    </a:p>
                  </a:txBody>
                  <a:tcPr/>
                </a:tc>
              </a:tr>
              <a:tr h="735864">
                <a:tc>
                  <a:txBody>
                    <a:bodyPr/>
                    <a:lstStyle/>
                    <a:p>
                      <a:r>
                        <a:rPr lang="en-US" dirty="0" smtClean="0"/>
                        <a:t>6</a:t>
                      </a:r>
                      <a:endParaRPr lang="en-US" dirty="0"/>
                    </a:p>
                  </a:txBody>
                  <a:tcPr/>
                </a:tc>
                <a:tc>
                  <a:txBody>
                    <a:bodyPr/>
                    <a:lstStyle/>
                    <a:p>
                      <a:r>
                        <a:rPr lang="en-US" dirty="0" smtClean="0"/>
                        <a:t>Requires human supervision continuously.	</a:t>
                      </a:r>
                      <a:endParaRPr lang="en-US" dirty="0"/>
                    </a:p>
                  </a:txBody>
                  <a:tcPr/>
                </a:tc>
                <a:tc>
                  <a:txBody>
                    <a:bodyPr/>
                    <a:lstStyle/>
                    <a:p>
                      <a:r>
                        <a:rPr lang="en-US" dirty="0" smtClean="0"/>
                        <a:t>System works automatically and reduces manual effort.</a:t>
                      </a:r>
                      <a:endParaRPr lang="en-US" dirty="0"/>
                    </a:p>
                  </a:txBody>
                  <a:tcPr/>
                </a:tc>
              </a:tr>
            </a:tbl>
          </a:graphicData>
        </a:graphic>
      </p:graphicFrame>
      <p:sp>
        <p:nvSpPr>
          <p:cNvPr id="5" name="Rectangle 4"/>
          <p:cNvSpPr/>
          <p:nvPr/>
        </p:nvSpPr>
        <p:spPr>
          <a:xfrm>
            <a:off x="591271" y="214780"/>
            <a:ext cx="10677861" cy="646331"/>
          </a:xfrm>
          <a:prstGeom prst="rect">
            <a:avLst/>
          </a:prstGeom>
        </p:spPr>
        <p:txBody>
          <a:bodyPr wrap="square">
            <a:spAutoFit/>
          </a:bodyPr>
          <a:lstStyle/>
          <a:p>
            <a:r>
              <a:rPr lang="en-US" sz="3600" dirty="0" smtClean="0"/>
              <a:t> </a:t>
            </a:r>
            <a:r>
              <a:rPr lang="en-US" sz="3200" dirty="0" smtClean="0"/>
              <a:t>Difference Between Existing System and Implemented System</a:t>
            </a:r>
            <a:endParaRPr lang="en-US" sz="3200" dirty="0"/>
          </a:p>
        </p:txBody>
      </p:sp>
    </p:spTree>
    <p:extLst>
      <p:ext uri="{BB962C8B-B14F-4D97-AF65-F5344CB8AC3E}">
        <p14:creationId xmlns="" xmlns:p14="http://schemas.microsoft.com/office/powerpoint/2010/main" val="31998819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9008" y="0"/>
            <a:ext cx="10515600" cy="1325563"/>
          </a:xfrm>
        </p:spPr>
        <p:txBody>
          <a:bodyPr>
            <a:normAutofit/>
          </a:bodyPr>
          <a:lstStyle/>
          <a:p>
            <a:r>
              <a:rPr lang="en-US" sz="3600" b="1" dirty="0"/>
              <a:t>COMPLETE DESCRIPTION</a:t>
            </a:r>
            <a:endParaRPr lang="en-IN" sz="3600" b="1" dirty="0"/>
          </a:p>
        </p:txBody>
      </p:sp>
      <p:sp>
        <p:nvSpPr>
          <p:cNvPr id="3" name="Content Placeholder 2"/>
          <p:cNvSpPr>
            <a:spLocks noGrp="1"/>
          </p:cNvSpPr>
          <p:nvPr>
            <p:ph idx="1"/>
          </p:nvPr>
        </p:nvSpPr>
        <p:spPr>
          <a:xfrm>
            <a:off x="764982" y="1125709"/>
            <a:ext cx="10529552" cy="4724758"/>
          </a:xfrm>
        </p:spPr>
        <p:txBody>
          <a:bodyPr>
            <a:normAutofit/>
          </a:bodyPr>
          <a:lstStyle/>
          <a:p>
            <a:r>
              <a:rPr lang="en-US" dirty="0"/>
              <a:t>The Space Suit Health Monitoring System is designed to enhance astronaut safety during space missions</a:t>
            </a:r>
            <a:r>
              <a:rPr lang="en-US" dirty="0" smtClean="0"/>
              <a:t>.</a:t>
            </a:r>
          </a:p>
          <a:p>
            <a:endParaRPr lang="en-US" dirty="0"/>
          </a:p>
          <a:p>
            <a:r>
              <a:rPr lang="en-US" dirty="0" smtClean="0"/>
              <a:t>In </a:t>
            </a:r>
            <a:r>
              <a:rPr lang="en-US" dirty="0"/>
              <a:t>space, monitoring vital signs is critical because environmental conditions can change rapidly and immediate medical assistance isn’t available</a:t>
            </a:r>
            <a:r>
              <a:rPr lang="en-US" dirty="0" smtClean="0"/>
              <a:t>.</a:t>
            </a:r>
          </a:p>
          <a:p>
            <a:endParaRPr lang="en-US" dirty="0"/>
          </a:p>
          <a:p>
            <a:r>
              <a:rPr lang="en-US" dirty="0" smtClean="0"/>
              <a:t>This </a:t>
            </a:r>
            <a:r>
              <a:rPr lang="en-US" dirty="0"/>
              <a:t>system integrates biosensors within the suit to measure real-time health data</a:t>
            </a:r>
            <a:r>
              <a:rPr lang="en-US" dirty="0" smtClean="0"/>
              <a:t>.</a:t>
            </a:r>
          </a:p>
        </p:txBody>
      </p:sp>
    </p:spTree>
    <p:extLst>
      <p:ext uri="{BB962C8B-B14F-4D97-AF65-F5344CB8AC3E}">
        <p14:creationId xmlns="" xmlns:p14="http://schemas.microsoft.com/office/powerpoint/2010/main" val="12808215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B68B343-4085-1657-B185-8B589071ED86}"/>
              </a:ext>
            </a:extLst>
          </p:cNvPr>
          <p:cNvSpPr>
            <a:spLocks noGrp="1"/>
          </p:cNvSpPr>
          <p:nvPr>
            <p:ph idx="1"/>
          </p:nvPr>
        </p:nvSpPr>
        <p:spPr>
          <a:xfrm>
            <a:off x="838200" y="708883"/>
            <a:ext cx="10515600" cy="5906619"/>
          </a:xfrm>
        </p:spPr>
        <p:txBody>
          <a:bodyPr>
            <a:normAutofit/>
          </a:bodyPr>
          <a:lstStyle/>
          <a:p>
            <a:r>
              <a:rPr lang="en-US" dirty="0"/>
              <a:t>All sensors are connected to the ESP32 microcontroller, which processes the data and uploads it to a cloud-based </a:t>
            </a:r>
            <a:r>
              <a:rPr lang="en-US" dirty="0" err="1"/>
              <a:t>IoT</a:t>
            </a:r>
            <a:r>
              <a:rPr lang="en-US" dirty="0"/>
              <a:t> platform</a:t>
            </a:r>
            <a:r>
              <a:rPr lang="en-US" dirty="0" smtClean="0"/>
              <a:t>.</a:t>
            </a:r>
          </a:p>
          <a:p>
            <a:endParaRPr lang="en-US" dirty="0"/>
          </a:p>
          <a:p>
            <a:r>
              <a:rPr lang="en-US" dirty="0" smtClean="0"/>
              <a:t>Ground </a:t>
            </a:r>
            <a:r>
              <a:rPr lang="en-US" dirty="0"/>
              <a:t>control can view live readings such as temperature, heart rate, and </a:t>
            </a:r>
            <a:r>
              <a:rPr lang="en-US" dirty="0" err="1"/>
              <a:t>SpO</a:t>
            </a:r>
            <a:r>
              <a:rPr lang="en-US" dirty="0"/>
              <a:t>₂ from anywhere</a:t>
            </a:r>
            <a:r>
              <a:rPr lang="en-US" dirty="0" smtClean="0"/>
              <a:t>.</a:t>
            </a:r>
          </a:p>
          <a:p>
            <a:endParaRPr lang="en-US" dirty="0"/>
          </a:p>
          <a:p>
            <a:r>
              <a:rPr lang="en-US" dirty="0" smtClean="0"/>
              <a:t>If </a:t>
            </a:r>
            <a:r>
              <a:rPr lang="en-US" dirty="0"/>
              <a:t>any abnormal conditions occur (like high body temperature, low oxygen level, or irregular pulse), an alert is sent instantly, helping to prevent health risks and improving astronaut safety and mission success</a:t>
            </a:r>
            <a:endParaRPr lang="en-IN" dirty="0"/>
          </a:p>
        </p:txBody>
      </p:sp>
    </p:spTree>
    <p:extLst>
      <p:ext uri="{BB962C8B-B14F-4D97-AF65-F5344CB8AC3E}">
        <p14:creationId xmlns="" xmlns:p14="http://schemas.microsoft.com/office/powerpoint/2010/main" val="35024784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214" y="270457"/>
            <a:ext cx="5821251" cy="631064"/>
          </a:xfrm>
        </p:spPr>
        <p:txBody>
          <a:bodyPr>
            <a:normAutofit/>
          </a:bodyPr>
          <a:lstStyle/>
          <a:p>
            <a:r>
              <a:rPr lang="en-US" sz="3600" b="1" dirty="0"/>
              <a:t>FEASIBILITY AND VIABILITY</a:t>
            </a:r>
            <a:endParaRPr lang="en-IN" sz="3600" b="1" dirty="0"/>
          </a:p>
        </p:txBody>
      </p:sp>
      <p:sp>
        <p:nvSpPr>
          <p:cNvPr id="3" name="Content Placeholder 2"/>
          <p:cNvSpPr>
            <a:spLocks noGrp="1"/>
          </p:cNvSpPr>
          <p:nvPr>
            <p:ph idx="1"/>
          </p:nvPr>
        </p:nvSpPr>
        <p:spPr>
          <a:xfrm>
            <a:off x="657896" y="924103"/>
            <a:ext cx="11023242" cy="5605485"/>
          </a:xfrm>
        </p:spPr>
        <p:txBody>
          <a:bodyPr>
            <a:normAutofit fontScale="85000" lnSpcReduction="20000"/>
          </a:bodyPr>
          <a:lstStyle/>
          <a:p>
            <a:r>
              <a:rPr lang="en-US" dirty="0"/>
              <a:t>Tested in space missions and works well without bothering the astronaut.</a:t>
            </a:r>
          </a:p>
          <a:p>
            <a:pPr marL="0" indent="0">
              <a:buNone/>
            </a:pPr>
            <a:endParaRPr lang="en-US" dirty="0"/>
          </a:p>
          <a:p>
            <a:r>
              <a:rPr lang="en-US" dirty="0"/>
              <a:t>Sends health data to Earth for doctors to watch in real time.</a:t>
            </a:r>
          </a:p>
          <a:p>
            <a:pPr marL="0" indent="0">
              <a:buNone/>
            </a:pPr>
            <a:endParaRPr lang="en-US" dirty="0"/>
          </a:p>
          <a:p>
            <a:r>
              <a:rPr lang="en-US" dirty="0"/>
              <a:t>Can work for long missions with smart design and reliable parts.</a:t>
            </a:r>
          </a:p>
          <a:p>
            <a:endParaRPr lang="en-US" dirty="0"/>
          </a:p>
          <a:p>
            <a:r>
              <a:rPr lang="en-US" dirty="0"/>
              <a:t>Potential Challenges and Risks Sensors may fail due to space conditions like radiation and extreme temperatures.</a:t>
            </a:r>
          </a:p>
          <a:p>
            <a:pPr marL="0" indent="0">
              <a:buNone/>
            </a:pPr>
            <a:endParaRPr lang="en-US" dirty="0"/>
          </a:p>
          <a:p>
            <a:r>
              <a:rPr lang="en-US" dirty="0"/>
              <a:t>Data signals might be delayed or lost, affecting quick health checks.</a:t>
            </a:r>
          </a:p>
          <a:p>
            <a:pPr marL="0" indent="0">
              <a:buNone/>
            </a:pPr>
            <a:endParaRPr lang="en-US" dirty="0"/>
          </a:p>
          <a:p>
            <a:r>
              <a:rPr lang="en-US" dirty="0"/>
              <a:t>Suit comfort or movement may be affected by sensor parts.</a:t>
            </a:r>
          </a:p>
          <a:p>
            <a:pPr marL="0" indent="0">
              <a:buNone/>
            </a:pPr>
            <a:endParaRPr lang="en-US" dirty="0"/>
          </a:p>
          <a:p>
            <a:r>
              <a:rPr lang="en-US" dirty="0"/>
              <a:t>Power sources need to last long without adding too much weight.</a:t>
            </a:r>
            <a:endParaRPr lang="en-IN" dirty="0"/>
          </a:p>
        </p:txBody>
      </p:sp>
    </p:spTree>
    <p:extLst>
      <p:ext uri="{BB962C8B-B14F-4D97-AF65-F5344CB8AC3E}">
        <p14:creationId xmlns="" xmlns:p14="http://schemas.microsoft.com/office/powerpoint/2010/main" val="3046407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910" y="141668"/>
            <a:ext cx="6156101" cy="605307"/>
          </a:xfrm>
        </p:spPr>
        <p:txBody>
          <a:bodyPr>
            <a:normAutofit/>
          </a:bodyPr>
          <a:lstStyle/>
          <a:p>
            <a:r>
              <a:rPr lang="en-US" sz="3600" b="1" dirty="0"/>
              <a:t>IMPACT AND BENEFITS</a:t>
            </a:r>
            <a:endParaRPr lang="en-IN" sz="3600" b="1" dirty="0"/>
          </a:p>
        </p:txBody>
      </p:sp>
      <p:sp>
        <p:nvSpPr>
          <p:cNvPr id="3" name="Content Placeholder 2"/>
          <p:cNvSpPr>
            <a:spLocks noGrp="1"/>
          </p:cNvSpPr>
          <p:nvPr>
            <p:ph idx="1"/>
          </p:nvPr>
        </p:nvSpPr>
        <p:spPr>
          <a:xfrm>
            <a:off x="643944" y="1043189"/>
            <a:ext cx="10825766" cy="5429988"/>
          </a:xfrm>
        </p:spPr>
        <p:txBody>
          <a:bodyPr/>
          <a:lstStyle/>
          <a:p>
            <a:r>
              <a:rPr lang="en-US" dirty="0"/>
              <a:t>Enhances astronaut health and safety by providing real-time monitoring of vital signs and environmental conditions inside the space suit.</a:t>
            </a:r>
          </a:p>
          <a:p>
            <a:pPr marL="0" indent="0">
              <a:buNone/>
            </a:pPr>
            <a:endParaRPr lang="en-US" dirty="0"/>
          </a:p>
          <a:p>
            <a:r>
              <a:rPr lang="en-US" dirty="0"/>
              <a:t>Facilitates early detection of health anomalies or emergencies, enabling timely interventions and reducing risks during missions.</a:t>
            </a:r>
          </a:p>
          <a:p>
            <a:endParaRPr lang="en-US" dirty="0"/>
          </a:p>
          <a:p>
            <a:r>
              <a:rPr lang="en-US" dirty="0"/>
              <a:t>Continuous monitoring offers immediate feedback to astronauts and ground medical teams, enhancing decision-making.</a:t>
            </a:r>
          </a:p>
          <a:p>
            <a:pPr marL="0" indent="0">
              <a:buNone/>
            </a:pPr>
            <a:endParaRPr lang="en-US" dirty="0"/>
          </a:p>
          <a:p>
            <a:r>
              <a:rPr lang="en-US" dirty="0"/>
              <a:t>Increases astronaut comfort by monitoring suit conditions such as temperature, pressure, and humidity.</a:t>
            </a:r>
            <a:endParaRPr lang="en-IN" dirty="0"/>
          </a:p>
        </p:txBody>
      </p:sp>
    </p:spTree>
    <p:extLst>
      <p:ext uri="{BB962C8B-B14F-4D97-AF65-F5344CB8AC3E}">
        <p14:creationId xmlns="" xmlns:p14="http://schemas.microsoft.com/office/powerpoint/2010/main" val="5603811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865" y="-124272"/>
            <a:ext cx="9194442" cy="935641"/>
          </a:xfrm>
        </p:spPr>
        <p:txBody>
          <a:bodyPr>
            <a:normAutofit/>
          </a:bodyPr>
          <a:lstStyle/>
          <a:p>
            <a:r>
              <a:rPr lang="en-US" sz="3200" b="1" dirty="0"/>
              <a:t>LITERATURE REVIEW</a:t>
            </a:r>
            <a:endParaRPr lang="en-IN" sz="3200" b="1" dirty="0"/>
          </a:p>
        </p:txBody>
      </p:sp>
      <p:graphicFrame>
        <p:nvGraphicFramePr>
          <p:cNvPr id="11" name="Content Placeholder 10"/>
          <p:cNvGraphicFramePr>
            <a:graphicFrameLocks noGrp="1"/>
          </p:cNvGraphicFramePr>
          <p:nvPr>
            <p:ph idx="1"/>
            <p:extLst>
              <p:ext uri="{D42A27DB-BD31-4B8C-83A1-F6EECF244321}">
                <p14:modId xmlns="" xmlns:p14="http://schemas.microsoft.com/office/powerpoint/2010/main" val="227738974"/>
              </p:ext>
            </p:extLst>
          </p:nvPr>
        </p:nvGraphicFramePr>
        <p:xfrm>
          <a:off x="991673" y="515155"/>
          <a:ext cx="10689466" cy="6156960"/>
        </p:xfrm>
        <a:graphic>
          <a:graphicData uri="http://schemas.openxmlformats.org/drawingml/2006/table">
            <a:tbl>
              <a:tblPr firstRow="1" bandRow="1">
                <a:tableStyleId>{5C22544A-7EE6-4342-B048-85BDC9FD1C3A}</a:tableStyleId>
              </a:tblPr>
              <a:tblGrid>
                <a:gridCol w="5957717">
                  <a:extLst>
                    <a:ext uri="{9D8B030D-6E8A-4147-A177-3AD203B41FA5}">
                      <a16:colId xmlns:a16="http://schemas.microsoft.com/office/drawing/2014/main" xmlns="" val="20000"/>
                    </a:ext>
                  </a:extLst>
                </a:gridCol>
                <a:gridCol w="4731749">
                  <a:extLst>
                    <a:ext uri="{9D8B030D-6E8A-4147-A177-3AD203B41FA5}">
                      <a16:colId xmlns:a16="http://schemas.microsoft.com/office/drawing/2014/main" xmlns="" val="20001"/>
                    </a:ext>
                  </a:extLst>
                </a:gridCol>
              </a:tblGrid>
              <a:tr h="2620851">
                <a:tc>
                  <a:txBody>
                    <a:bodyPr/>
                    <a:lstStyle/>
                    <a:p>
                      <a:r>
                        <a:rPr lang="en-IN" sz="2800" dirty="0"/>
                        <a:t>THEME: Narrative review exploring musculoskeletal changes in microgravity and proposing wearable sensors and robotic suits (e.g., smart textiles, exoskeletons) as compact, intelligent solutions for long-term missions</a:t>
                      </a:r>
                    </a:p>
                  </a:txBody>
                  <a:tcPr/>
                </a:tc>
                <a:tc>
                  <a:txBody>
                    <a:bodyPr/>
                    <a:lstStyle/>
                    <a:p>
                      <a:r>
                        <a:rPr lang="en-IN" sz="2800" dirty="0"/>
                        <a:t>Publication: </a:t>
                      </a:r>
                      <a:r>
                        <a:rPr lang="en-IN" sz="2800" dirty="0" err="1"/>
                        <a:t>arXiv</a:t>
                      </a:r>
                      <a:r>
                        <a:rPr lang="en-IN" sz="2800" dirty="0"/>
                        <a:t> preprint, April 2024</a:t>
                      </a:r>
                    </a:p>
                  </a:txBody>
                  <a:tcPr/>
                </a:tc>
                <a:extLst>
                  <a:ext uri="{0D108BD9-81ED-4DB2-BD59-A6C34878D82A}">
                    <a16:rowId xmlns:a16="http://schemas.microsoft.com/office/drawing/2014/main" xmlns="" val="10000"/>
                  </a:ext>
                </a:extLst>
              </a:tr>
              <a:tr h="2620851">
                <a:tc>
                  <a:txBody>
                    <a:bodyPr/>
                    <a:lstStyle/>
                    <a:p>
                      <a:r>
                        <a:rPr lang="en-US" sz="2800" dirty="0"/>
                        <a:t>THEME: A NASA workshop white paper promoting a future paradigm of AI-driven, autonomous “Precision Space Health” systems—aggregating biosensor data, predicting personalized health risks, and supporting deep-space crew decision-making</a:t>
                      </a:r>
                      <a:endParaRPr lang="en-IN" sz="2800" dirty="0"/>
                    </a:p>
                  </a:txBody>
                  <a:tcPr/>
                </a:tc>
                <a:tc>
                  <a:txBody>
                    <a:bodyPr/>
                    <a:lstStyle/>
                    <a:p>
                      <a:r>
                        <a:rPr lang="en-IN" sz="2800" dirty="0"/>
                        <a:t>Publication: </a:t>
                      </a:r>
                      <a:r>
                        <a:rPr lang="en-IN" sz="2800" dirty="0" err="1"/>
                        <a:t>arXiv</a:t>
                      </a:r>
                      <a:r>
                        <a:rPr lang="en-IN" sz="2800" dirty="0"/>
                        <a:t> preprint, December 2021</a:t>
                      </a:r>
                    </a:p>
                  </a:txBody>
                  <a:tcPr/>
                </a:tc>
                <a:extLst>
                  <a:ext uri="{0D108BD9-81ED-4DB2-BD59-A6C34878D82A}">
                    <a16:rowId xmlns:a16="http://schemas.microsoft.com/office/drawing/2014/main" xmlns="" val="10001"/>
                  </a:ext>
                </a:extLst>
              </a:tr>
            </a:tbl>
          </a:graphicData>
        </a:graphic>
      </p:graphicFrame>
    </p:spTree>
    <p:extLst>
      <p:ext uri="{BB962C8B-B14F-4D97-AF65-F5344CB8AC3E}">
        <p14:creationId xmlns="" xmlns:p14="http://schemas.microsoft.com/office/powerpoint/2010/main" val="42661636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42562A-3A07-999D-7467-97A6086FA89B}"/>
              </a:ext>
            </a:extLst>
          </p:cNvPr>
          <p:cNvSpPr>
            <a:spLocks noGrp="1"/>
          </p:cNvSpPr>
          <p:nvPr>
            <p:ph type="title"/>
          </p:nvPr>
        </p:nvSpPr>
        <p:spPr>
          <a:xfrm>
            <a:off x="3167932" y="2575588"/>
            <a:ext cx="10515600" cy="1325563"/>
          </a:xfrm>
        </p:spPr>
        <p:txBody>
          <a:bodyPr>
            <a:normAutofit/>
          </a:bodyPr>
          <a:lstStyle/>
          <a:p>
            <a:r>
              <a:rPr lang="en-US" sz="6000" dirty="0">
                <a:latin typeface="Arial Black" pitchFamily="34" charset="0"/>
              </a:rPr>
              <a:t>Thank you</a:t>
            </a:r>
            <a:endParaRPr lang="en-IN" sz="6000" dirty="0">
              <a:latin typeface="Arial Black" pitchFamily="34" charset="0"/>
            </a:endParaRPr>
          </a:p>
        </p:txBody>
      </p:sp>
    </p:spTree>
    <p:extLst>
      <p:ext uri="{BB962C8B-B14F-4D97-AF65-F5344CB8AC3E}">
        <p14:creationId xmlns="" xmlns:p14="http://schemas.microsoft.com/office/powerpoint/2010/main" val="319988192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595</TotalTime>
  <Words>776</Words>
  <Application>Microsoft Office PowerPoint</Application>
  <PresentationFormat>Custom</PresentationFormat>
  <Paragraphs>104</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SPACE SUIT HEALTH MONITOR</vt:lpstr>
      <vt:lpstr>Slide 2</vt:lpstr>
      <vt:lpstr>INTRODUCTION</vt:lpstr>
      <vt:lpstr>PROPOSED METHODOLOGY</vt:lpstr>
      <vt:lpstr>TECHNICAL APPROACH</vt:lpstr>
      <vt:lpstr>Slide 6</vt:lpstr>
      <vt:lpstr>Model</vt:lpstr>
      <vt:lpstr>             INPUT AND OUTPUT FORMAT</vt:lpstr>
      <vt:lpstr>Slide 9</vt:lpstr>
      <vt:lpstr>COMPLETE DESCRIPTION</vt:lpstr>
      <vt:lpstr>Slide 11</vt:lpstr>
      <vt:lpstr>FEASIBILITY AND VIABILITY</vt:lpstr>
      <vt:lpstr>IMPACT AND BENEFITS</vt:lpstr>
      <vt:lpstr>LITERATURE REVIEW</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SPACE SUIT HEALTH MONITOR</dc:title>
  <dc:creator>PC</dc:creator>
  <cp:lastModifiedBy>DELL</cp:lastModifiedBy>
  <cp:revision>49</cp:revision>
  <dcterms:created xsi:type="dcterms:W3CDTF">2025-09-26T14:27:17Z</dcterms:created>
  <dcterms:modified xsi:type="dcterms:W3CDTF">2026-02-03T17:33:36Z</dcterms:modified>
</cp:coreProperties>
</file>